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365" r:id="rId2"/>
    <p:sldId id="366" r:id="rId3"/>
    <p:sldId id="362" r:id="rId4"/>
    <p:sldId id="364" r:id="rId5"/>
    <p:sldId id="375" r:id="rId6"/>
    <p:sldId id="376" r:id="rId7"/>
    <p:sldId id="377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88" r:id="rId19"/>
    <p:sldId id="389" r:id="rId20"/>
    <p:sldId id="390" r:id="rId21"/>
    <p:sldId id="391" r:id="rId22"/>
    <p:sldId id="392" r:id="rId23"/>
    <p:sldId id="393" r:id="rId24"/>
    <p:sldId id="394" r:id="rId25"/>
    <p:sldId id="395" r:id="rId26"/>
    <p:sldId id="396" r:id="rId27"/>
    <p:sldId id="397" r:id="rId28"/>
    <p:sldId id="398" r:id="rId29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</p14:sldIdLst>
        </p14:section>
        <p14:section name="Шаблоны слайдов" id="{24401F80-F81B-49C3-8D55-70A14F0BF8FF}">
          <p14:sldIdLst/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03" d="100"/>
          <a:sy n="103" d="100"/>
        </p:scale>
        <p:origin x="822" y="10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Номер часто нечитаем, а в данных конкурса он ещё и размыт намеренно: опора на него - дисквалификация. Значит, узнавать машину надо по кузову: форма, цвет, диски, наклейки, повреждения. Второе требование: если уверенного совпадения нет, сервис должен честно отказаться. Справа - как нас оценивают; почти половина веса - точность.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Главная идея нашего решения. Номер размыт, но у машины остаётся отпечаток - то, как модель видит кузов: 256 чисел. Мы рисуем их как папиллярный узор. Слева - запрос. В центре - та же машина с другой камеры: наложите её отпечаток на запрос, и линии совпадут. Справа - похожий белый кроссовер другой марки: линии разошлись. Это настоящие данные из нашего сервиса, и именно так оператор видит результат поиска.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Вот что получает оператор. Перетаскивает кадр, обводит машину - поиск идёт сразу. На схеме города у камер всплывают найденные снимки и складываются в маршрут. Справа вердикт «Отпечаток совпал», шкала уверенности и кандидаты: у той же машины отпечаток синий, у чужих - красный. Результат выгружается в CSV или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Пользовательский путь из пяти шагов. Кадр; рамка - в работе её даст детектор; отпечаток из 256 чисел за 28 миллисекунд; решение по порогу 0.69; разбор пары с наложением отпечатков и картой внимания. На схеме города найденные снимки складываются в маршрут машины. Номер не используется ни на одном шаге.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Модель - ансамбль трёх сетей двух архитектур: две CLIP ViT-B/16 и свёрточная ResNet50-IBN-a. Векторы склеиваются и сжимаются до 256 чисел - это и есть отпечаток машины. Затем он обогащается соседями по галерее, и порог решает, совпадение это или отказ. ResNet здесь ради разнообразия: она ошибается на других машинах и добавляет 0.012, и это не шум. Все веса - 403 мегабайта при лимите 2 гигабайта.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Главная трудность - одна машина на разных камерах выглядит по-разному: день и ночь, разный ракурс. Три ответа. IBN в сети вычищает освещение и баланс белого. Батчи собираются из разных камер, потому что метрика засчитывает только межкамерные совпадения. И аугментации под пункты ТЗ. Внизу - наша схема города ночью: интерфейс тоже живёт в смене суток. Вертикальное отражение сознательно не используем - камеры кадр не переворачивают.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Главный результат. На 96 машинах, которых модели не видели, mAP@10 - 0.914; у прежних моделей на тех же машинах было 0.890. Машин немного, поэтому честно показываем интервал: от 0.87 до 0.95. Прирост к прежним моделям 0.024, и интервал разницы от 0.008 до 0.042 - ноль в него не попадает. Режим кандидатов - 0.930. Всё посчитано эталонным скриптом организаторов, наш код совпадает с ним до последнего знака.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Режим отказа - главный продуктовый слайд. Балл - 0.7 F1 плюс 0.3 TNR, и составляющие тянут в разные стороны. Всегда отвечать - TNR ноль и 0.587. Всегда отказываться - 0.3. Откалиброванный порог 0.69 даёт 0.930; он выбран по среднему четырёх жеребьёвок и двух плотностей галереи, на плато от 0.65 до 0.72. Справа - как это видит оператор: все отпечатки красные, «Отпечаток не найден». На публичном тесте мы отказываем лишь в 3.5% случаев.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 что, если две машины одинаковые, а на самом деле разные? В данных такие есть: два фургона Lamoda в одной оклейке. Кадр одного модель ставит ближе к другому: 0.968 против 0.965. Порог тут не поможет, оба сходства далеко выше него. Угадать, какой фургон настоящий, нельзя, но саму ситуацию видно: над порогом две разные машины почти вровень. Тогда сервис не называет первую, а отвечает «нужна проверка», показывает обе и подсказывает, на что смотреть. Зазор 0.05 подобран на машинах вне обучения: правило ловит 10 из 17 ложных совпадений, и ошибок среди уверенных ответов становится вдвое меньше. Цена - каждый девятый верный ответ подтверждает человек.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Двойников модель не различает, а человек различает: у этих фургонов разный рисунок на крыше. Поэтому в окне сравнения у оператора две кнопки - «это она» и «не она». Решение сохраняется без кадров и векторов: какой снимок, что решил человек, какое сходство он видел и что ответил сервис. Подтверждённый кадр одной кнопкой становится новым ракурсом машины в галерее. Выгрузка решений позволяет перепроверить порог и правило двойников на настоящих решениях операторов, а не только на наших 96 машинах. А отклонённые пары выше порога - готовые трудные примеры для дообучения.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Организаторы проверят финалистов на тесте с закрашенным номером. Мы сделали ту же проверку заранее: закрашиваем зону на всех снимках и пересчитываем метрику, а для сравнения - участки кузова той же площади. Закраска номера стоит 0.005 - меньше, чем почти любой участок кузова. Этого добились обучением, в котором номер закрашивается в половине кадров. В интерфейсе та же проверка работает для каждой найденной пары.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Скорость. 28 миллисекунд на кадр при пределе 40 и 140 кадров в секунду при минимуме 100 - замер по методике организаторов, в собранном образе без сети, на ноутбучной RTX 3060. Стенд жюри примерно вдвое мощнее. Весь ансамбль - 403 мегабайта. Отражение кадра мы выключили: оно давало 0.003 в пределах шума, но роняло пропускную способность до 75 кадров.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Как это масштабируется на город. До ста тысяч машин точный перебор быстрее приближённого поиска и без потерь, поэтому в сдаче он. На миллионе HNSW ищет за 0.75 миллисекунды с полнотой 0.95 - около трёх процентов времени на кадр. Масштабировать нужно инференс, а не индекс. Отпечаток из 256 чисел - это гигабайт на миллион машин.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Инженерная часть. Три контейнера, как требует ТЗ: интерфейс на nginx, инференс на FastAPI с GPU и PostgreSQL с pgvector; наружу открыт только web. Всё поднимается одной командой docker compose up. 153 теста, линтер и аудит зависимостей идут на каждом пуше. Без видеокарты тот же сервис поднимается на процессоре - так проще развернуть прототип. Контейнеры не от root, с файловой системой только для чтения, с лимитами и защитой от «бомб» в картинках.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Скажем прямо: поиск машины по камерам - это отслеживание перемещений. Поэтому защита встроена в код. Журнал обращений фиксирует, кто и что искал, без кадров и ключей. Снимки старше срока удаляются сами. Всё работает на площадке заказчика без интернета, биометрии нет. И честная находка: VeRi-776 разрешён только для исследований, для продажи нужно разрешение или переобучение - рецепт готов.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Честный разбор, на машинах вне обучения. Главные враги - смена ракурса и темнота: при смене ракурса Rank-1 падает с 0.977 до 0.818. Отдельный класс - двойники: каршеринг и фургоны с одинаковой оклейкой; их различает в основном номер, а он размыт. На публичном тесте все 39 отказов - ошибки, и почти всегда машину кто-то закрывает. Пути развития: признаки частей кузова, аугментация перекрытия, высокое разрешение для мелких деталей.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Пути развития взяты прямо из разбора ошибок. Смена ракурса - главный враг: нужны признаки частей кузова. Перекрытие - главная причина отказов на публичном тесте: поможет аугментация перекрытия. Для двойников уже работает сбор трудных пар из решений операторов. Время и место: одна машина не бывает на двух камерах одновременно - фильтр по карте камер отсечёт двойника, но нужны метаданные, которых в данных конкурса нет. И для коммерческой поставки - переобучение без VeRi-776, рецепт готов.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Итог: номер можно размыть, отпечаток - нет. 0.914 на машинах, которых модели не видели, честный режим отказа и скорость с запасом. Всё запускается одной командой, код и отчёты лежат в репозитории. Спасибо, готовы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Самый крупный шаг проекта - переход на CLIP. Ещё без дообучения он почти вдвое точнее ResNet: CLIP учился сопоставлять изображения с описаниями и уже различает марки и модели. После дообучения одна CLIP даёт 0.704 против 0.595 у лучшей ResNet. И это не стоит скорости: в fp16 одна CLIP обрабатывает 200 кадров в секунду.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Как мы сюда пришли, шаг за шагом на одной проверке. Первая версия из двух ResNet - 0.612. Переход на CLIP - самый большой скачок. Дальше ансамбль, дообучение с закраской номера, PCA и обогащение соседями. Итого плюс 0.184 к первой версии. Последний шаг - больше машин в обучении - проверен отдельно, на машинах, которых не видела ни одна версия: 0.890 стало 0.914.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Три приёма поверх моделей, у каждого - доверительный интервал. Обогащение соседями описывает машину, а не отдельный кадр, и даёт 0.039 без единой эпохи обучения; связей между запросами нет, правило организаторов соблюдено. Вес соседа - сходство в кубе: на галерее плотности закрытого теста это ещё плюс 0.012. PCA убирает шум и делает отпечаток в 14 раз короче. И больше машин в обучении - плюс 0.024.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Каждое решение - по измерению. Больший вход не помог, а 288 ещё и вышел за лимит задержки. Переранжирование дало прирост в пределах шума, отражение кадра - тоже, ценой скорости. И последнее: модели на всех 1541 машинах почти совпали с нынешними, но правило, записанное до обучения, не выполнилось, и сдачу мы не меняли. Подгонять правило под результат не стали.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Что дала инженерная дисциплина. Мы поймали переполнение в половинной точности, которое могло уронить сдачу на закрытом тесте. Нашли, почему первый поиск шёл секунды. Заменили эвристику по номеру честной проверкой закраской. И перестроили выборку, когда увидели, что порог отказывает в 38% случаев локально и в 2.8% на тесте. Вывод: мало посчитать метрику, нужна честная выборка и проверка значимости.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t>Агробизнесмены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t>Задача 7 «Фалькон Тех». Сервис формирования цифрового признака транспортного средства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Picture 5" descr="falcon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86" y="634305"/>
            <a:ext cx="4572000" cy="48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-121298" y="3345024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Совпадение видно глазами: оператор сравнивает узоры отпечатков и карту внимания модели. Если две машины одинаковые, сервис просит проверку у человека. Решения оператора сохраняются, по ним перепроверяется порог.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213664" y="4256233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Семён Потапов, прикладная информатика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4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студенты со всей Москвы, собрались вместе под этот хакатон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РГАУ-МСХА имени К.А. Тимирязева выступал площадкой для проведения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  <a:r>
              <a:rPr lang="ru-RU" dirty="0">
                <a:solidFill>
                  <a:schemeClr val="tx1"/>
                </a:solidFill>
              </a:rPr>
              <a:t> 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213664" y="3858009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 dirty="0">
                <a:solidFill>
                  <a:schemeClr val="accent5"/>
                </a:solidFill>
                <a:latin typeface="+mn-lt"/>
              </a:rPr>
              <a:t>Агробизнесмены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274535" y="3821863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Сервис находит одну и ту же машину на разных камерах по кузову, без номера. Три нейросети превращают кадр в отпечаток из 256 чисел, поиск по базе занимает 28 мс. Если уверенного совпадения нет, сервис честно говорит, что такой машины в базе нет.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955BE76-131F-3146-9439-57E42C0FA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35065" cy="363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6" y="4250028"/>
            <a:ext cx="1894356" cy="196416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Бэкенд, API и интерфейс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</a:rPr>
              <a:t>@Ski100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 (930) 014-02-34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РГАУ- МСХА имени К. А. Тимирязева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,Прикладная информатика, 3 курс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Егор </a:t>
            </a:r>
          </a:p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Мешков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961246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Обучение моделей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</a:rPr>
              <a:t>@kozhanyi_chelovek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+7 929 583 4491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ВШЭ, Анализ данных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Александр Кожемякин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Данные, метрики и тесты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</a:rPr>
              <a:t>@fforspeed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+7 966 101 6738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МГТУ </a:t>
            </a:r>
            <a:r>
              <a:rPr lang="ru-RU" sz="1200" dirty="0" err="1">
                <a:solidFill>
                  <a:schemeClr val="tx1"/>
                </a:solidFill>
              </a:rPr>
              <a:t>им.Баумана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Леонид </a:t>
            </a:r>
            <a:r>
              <a:rPr lang="ru-RU" sz="1600" b="1" dirty="0" err="1">
                <a:solidFill>
                  <a:schemeClr val="accent5"/>
                </a:solidFill>
              </a:rPr>
              <a:t>Едемский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  <p:txBody>
          <a:bodyPr/>
          <a:lstStyle/>
          <a:p>
            <a:r>
              <a:rPr lang="ru-RU" dirty="0"/>
              <a:t> 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B65F0F3-0AB2-A35F-31D0-58541C2A2D52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2" b="4202"/>
          <a:stretch>
            <a:fillRect/>
          </a:stretch>
        </p:blipFill>
        <p:spPr>
          <a:xfrm>
            <a:off x="518359" y="1887538"/>
            <a:ext cx="1722438" cy="154146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18E38D6-7C67-FA17-7325-EE1074AF9D9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9298" b="9298"/>
          <a:stretch/>
        </p:blipFill>
        <p:spPr>
          <a:xfrm>
            <a:off x="5234781" y="1809750"/>
            <a:ext cx="1722438" cy="15589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A75BA58-2247-AA39-60A4-9CEBEC3C2782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/>
          <a:srcRect l="5385" r="5385"/>
          <a:stretch/>
        </p:blipFill>
        <p:spPr>
          <a:xfrm>
            <a:off x="7520273" y="1809750"/>
            <a:ext cx="1722437" cy="15589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848" cy="1964160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Капитан, продукт и защита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</a:rPr>
              <a:t>@P_S_V1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</a:rPr>
              <a:t>+7 (909) 659-59-21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РГАУ- МСХА имени К. А. Тимирязева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,Прикладная информатика, 3 курс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Семён Потапов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6507" y="2329474"/>
            <a:ext cx="1082486" cy="5486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 err="1">
                <a:solidFill>
                  <a:srgbClr val="1C1D22"/>
                </a:solidFill>
              </a:rPr>
              <a:t>Фото</a:t>
            </a:r>
            <a:endParaRPr sz="1600" b="1" dirty="0">
              <a:solidFill>
                <a:srgbClr val="1C1D22"/>
              </a:solidFill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A847BC1-B7BE-207F-90A5-A9CB62B14B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949" y="1819127"/>
            <a:ext cx="1596668" cy="160987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О КОМАНДЕ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Учимся в передовых вузах страны и привыкли к опытам: гипотеза, контроль, повтор. Так и работали здесь: каждое решение проверяли на машинах, которых модель не видела.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Начинали с простых признаков и ResNet: лучшая модель давала 0.595. Перешли на CLIP и собрали ансамбль из трёх сетей. На машинах, которых модели не видели, вышло 0.914.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Локально сервис отказывал в 38% запросов, на тесте в 2.8%: выборка не была похожа на тест, перестроили её. Одинаковые фургоны модель путала, так появился ответ «нужна проверка».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Главный признак машины здесь запрещён: номер размыт. Узнавать её приходится как человек, по кузову, дискам и наклейкам. И понравилось, что за честное «не знаю» в этой задаче дают баллы.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Три нейросети (2 × CLIP ViT-B/16 и ResNet50-IBN-a) превращают кадр в отпечаток из 256 чисел. Номер не используется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Порог 0.69: выше него совпадение, ниже честный отказ. Для одинаковых машин ответ «нужна проверка»</a:t>
            </a:r>
          </a:p>
          <a:p>
            <a:r>
              <a:rPr lang="ru-RU" sz="1400" dirty="0">
                <a:solidFill>
                  <a:schemeClr val="tx1"/>
                </a:solidFill>
              </a:rPr>
              <a:t>mAP@10 0.914 на машинах, которых модели не видели. 28 мс на кадр, 140 кадров в секунду</a:t>
            </a:r>
          </a:p>
          <a:p>
            <a:r>
              <a:rPr lang="ru-RU" sz="1400" dirty="0">
                <a:solidFill>
                  <a:schemeClr val="tx1"/>
                </a:solidFill>
              </a:rPr>
              <a:t>Три контейнера: интерфейс, FastAPI на GPU, PostgreSQL с pgvector. Запуск одной командой docker compose up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Поиск машины по камерам города, когда номер не читается, закрыт, подделан или снят</a:t>
            </a:r>
          </a:p>
          <a:p>
            <a:r>
              <a:rPr lang="ru-RU" sz="1400" dirty="0">
                <a:solidFill>
                  <a:schemeClr val="tx1"/>
                </a:solidFill>
              </a:rPr>
              <a:t>Для ситуационных центров, транспортной безопасности, логистики и парковок</a:t>
            </a:r>
          </a:p>
          <a:p>
            <a:r>
              <a:rPr lang="ru-RU" sz="1400" dirty="0">
                <a:solidFill>
                  <a:schemeClr val="tx1"/>
                </a:solidFill>
              </a:rPr>
              <a:t>Оператор видит, почему система так решила. Данные не уходят с площадки заказчика</a:t>
            </a:r>
          </a:p>
          <a:p>
            <a:r>
              <a:rPr lang="ru-RU" sz="1400" dirty="0">
                <a:solidFill>
                  <a:schemeClr val="tx1"/>
                </a:solidFill>
              </a:rPr>
              <a:t>Дальше: проверка по времени и карте камер, признаки частей кузова, дообучение на решениях операторов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11076</TotalTime>
  <Words>2288</Words>
  <Application>Microsoft Office PowerPoint</Application>
  <PresentationFormat>Широкоэкранный</PresentationFormat>
  <Paragraphs>91</Paragraphs>
  <Slides>28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3" baseType="lpstr">
      <vt:lpstr>Arial</vt:lpstr>
      <vt:lpstr>Calibri</vt:lpstr>
      <vt:lpstr>Montserrat</vt:lpstr>
      <vt:lpstr>Wingdings</vt:lpstr>
      <vt:lpstr>Для Академия инноваторов 16_9</vt:lpstr>
      <vt:lpstr>Агробизнесмены</vt:lpstr>
      <vt:lpstr>Агробизнесмены</vt:lpstr>
      <vt:lpstr>КОМАНДА</vt:lpstr>
      <vt:lpstr>О КОМАНДЕ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Семён Потапов</cp:lastModifiedBy>
  <cp:revision>96</cp:revision>
  <dcterms:created xsi:type="dcterms:W3CDTF">2023-05-15T07:36:23Z</dcterms:created>
  <dcterms:modified xsi:type="dcterms:W3CDTF">2026-09-29T18:23:57Z</dcterms:modified>
</cp:coreProperties>
</file>